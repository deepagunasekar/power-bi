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ontserrat Light" panose="020F0502020204030204" pitchFamily="2" charset="0"/>
      <p:regular r:id="rId12"/>
    </p:embeddedFont>
    <p:embeddedFont>
      <p:font typeface="Montserrat Medium" panose="020F0502020204030204" pitchFamily="2" charset="0"/>
      <p:regular r:id="rId13"/>
    </p:embeddedFont>
    <p:embeddedFont>
      <p:font typeface="Red Hat Display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1001B">
                <a:alpha val="74902"/>
              </a:srgbClr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8648172">
            <a:off x="13278231" y="-3506375"/>
            <a:ext cx="7962138" cy="8229600"/>
          </a:xfrm>
          <a:custGeom>
            <a:avLst/>
            <a:gdLst/>
            <a:ahLst/>
            <a:cxnLst/>
            <a:rect l="l" t="t" r="r" b="b"/>
            <a:pathLst>
              <a:path w="7962138" h="8229600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7" name="Freeform 7"/>
          <p:cNvSpPr/>
          <p:nvPr/>
        </p:nvSpPr>
        <p:spPr>
          <a:xfrm rot="-9107142">
            <a:off x="-2440411" y="4393050"/>
            <a:ext cx="6275070" cy="8229600"/>
          </a:xfrm>
          <a:custGeom>
            <a:avLst/>
            <a:gdLst/>
            <a:ahLst/>
            <a:cxnLst/>
            <a:rect l="l" t="t" r="r" b="b"/>
            <a:pathLst>
              <a:path w="6275070" h="8229600">
                <a:moveTo>
                  <a:pt x="0" y="0"/>
                </a:moveTo>
                <a:lnTo>
                  <a:pt x="6275070" y="0"/>
                </a:lnTo>
                <a:lnTo>
                  <a:pt x="62750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8"/>
          <p:cNvGrpSpPr/>
          <p:nvPr/>
        </p:nvGrpSpPr>
        <p:grpSpPr>
          <a:xfrm>
            <a:off x="7386165" y="6203730"/>
            <a:ext cx="3531574" cy="653126"/>
            <a:chOff x="0" y="0"/>
            <a:chExt cx="930127" cy="1720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0127" cy="172017"/>
            </a:xfrm>
            <a:custGeom>
              <a:avLst/>
              <a:gdLst/>
              <a:ahLst/>
              <a:cxnLst/>
              <a:rect l="l" t="t" r="r" b="b"/>
              <a:pathLst>
                <a:path w="930127" h="172017">
                  <a:moveTo>
                    <a:pt x="70150" y="0"/>
                  </a:moveTo>
                  <a:lnTo>
                    <a:pt x="859976" y="0"/>
                  </a:lnTo>
                  <a:cubicBezTo>
                    <a:pt x="898719" y="0"/>
                    <a:pt x="930127" y="31407"/>
                    <a:pt x="930127" y="70150"/>
                  </a:cubicBezTo>
                  <a:lnTo>
                    <a:pt x="930127" y="101866"/>
                  </a:lnTo>
                  <a:cubicBezTo>
                    <a:pt x="930127" y="140609"/>
                    <a:pt x="898719" y="172017"/>
                    <a:pt x="859976" y="172017"/>
                  </a:cubicBezTo>
                  <a:lnTo>
                    <a:pt x="70150" y="172017"/>
                  </a:lnTo>
                  <a:cubicBezTo>
                    <a:pt x="31407" y="172017"/>
                    <a:pt x="0" y="140609"/>
                    <a:pt x="0" y="101866"/>
                  </a:cubicBezTo>
                  <a:lnTo>
                    <a:pt x="0" y="70150"/>
                  </a:lnTo>
                  <a:cubicBezTo>
                    <a:pt x="0" y="31407"/>
                    <a:pt x="31407" y="0"/>
                    <a:pt x="70150" y="0"/>
                  </a:cubicBezTo>
                  <a:close/>
                </a:path>
              </a:pathLst>
            </a:custGeom>
            <a:solidFill>
              <a:srgbClr val="542C49">
                <a:alpha val="80000"/>
              </a:srgbClr>
            </a:solidFill>
            <a:ln w="38100" cap="rnd">
              <a:solidFill>
                <a:srgbClr val="F7F3F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30127" cy="219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747989" y="6307398"/>
            <a:ext cx="3639484" cy="39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3"/>
              </a:lnSpc>
            </a:pPr>
            <a:r>
              <a:rPr lang="en-US" sz="2324" b="1">
                <a:solidFill>
                  <a:srgbClr val="F7F3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E- COMMERCE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86165" y="3401569"/>
            <a:ext cx="9128814" cy="240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57"/>
              </a:lnSpc>
            </a:pPr>
            <a:r>
              <a:rPr lang="en-US" sz="7676" b="1" spc="130">
                <a:solidFill>
                  <a:srgbClr val="F7F3F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ARTIFICIAL INTELLIGENCE</a:t>
            </a:r>
          </a:p>
        </p:txBody>
      </p:sp>
      <p:sp>
        <p:nvSpPr>
          <p:cNvPr id="13" name="AutoShape 13"/>
          <p:cNvSpPr/>
          <p:nvPr/>
        </p:nvSpPr>
        <p:spPr>
          <a:xfrm>
            <a:off x="-1003049" y="9292543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AutoShape 14"/>
          <p:cNvSpPr/>
          <p:nvPr/>
        </p:nvSpPr>
        <p:spPr>
          <a:xfrm>
            <a:off x="-780312" y="994457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Freeform 15"/>
          <p:cNvSpPr/>
          <p:nvPr/>
        </p:nvSpPr>
        <p:spPr>
          <a:xfrm rot="-1529284">
            <a:off x="-2360956" y="2463613"/>
            <a:ext cx="10483567" cy="8229600"/>
          </a:xfrm>
          <a:custGeom>
            <a:avLst/>
            <a:gdLst/>
            <a:ahLst/>
            <a:cxnLst/>
            <a:rect l="l" t="t" r="r" b="b"/>
            <a:pathLst>
              <a:path w="10483567" h="8229600">
                <a:moveTo>
                  <a:pt x="0" y="0"/>
                </a:moveTo>
                <a:lnTo>
                  <a:pt x="10483567" y="0"/>
                </a:lnTo>
                <a:lnTo>
                  <a:pt x="104835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-14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1001B">
                <a:alpha val="74902"/>
              </a:srgbClr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97359" y="3739119"/>
            <a:ext cx="3348604" cy="4430885"/>
            <a:chOff x="0" y="0"/>
            <a:chExt cx="881937" cy="11669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69558" y="3739119"/>
            <a:ext cx="3348604" cy="4430885"/>
            <a:chOff x="0" y="0"/>
            <a:chExt cx="881937" cy="11669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42037" y="3739119"/>
            <a:ext cx="3348604" cy="4430885"/>
            <a:chOff x="0" y="0"/>
            <a:chExt cx="881937" cy="11669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51627" y="4116066"/>
            <a:ext cx="2840069" cy="977232"/>
            <a:chOff x="0" y="0"/>
            <a:chExt cx="748002" cy="2573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723826" y="4116066"/>
            <a:ext cx="2840069" cy="977232"/>
            <a:chOff x="0" y="0"/>
            <a:chExt cx="748002" cy="25737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596304" y="4116066"/>
            <a:ext cx="2840069" cy="977232"/>
            <a:chOff x="0" y="0"/>
            <a:chExt cx="748002" cy="2573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666462" y="1905414"/>
            <a:ext cx="6955077" cy="73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sz="4251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The Rise of AI in Retail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66697" y="5467538"/>
            <a:ext cx="2009929" cy="1720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AI-driven recommender systems analyze customer preferences and behaviors to suggest products tailored to individual needs, fostering deeper engagement and higher conversion rates.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38895" y="5467538"/>
            <a:ext cx="2009929" cy="1225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AI-powered chatbots and virtual assistants provide 24/7 customer support, streamlining inquiries and boosting satisfaction levels.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11374" y="5467538"/>
            <a:ext cx="2009929" cy="147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 models leverage historical data to forecast demand, optimize inventory, and minimize stockouts, ensuring efficient supply chain management.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36579" y="4328781"/>
            <a:ext cx="2270165" cy="52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Personalized Experiences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05814" y="4328781"/>
            <a:ext cx="1876092" cy="52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Intelligent Automation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189661" y="4328781"/>
            <a:ext cx="1653355" cy="52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Predictive Analytics</a:t>
            </a:r>
          </a:p>
        </p:txBody>
      </p:sp>
      <p:sp>
        <p:nvSpPr>
          <p:cNvPr id="31" name="Freeform 31"/>
          <p:cNvSpPr/>
          <p:nvPr/>
        </p:nvSpPr>
        <p:spPr>
          <a:xfrm rot="-9107142">
            <a:off x="-2440411" y="4393050"/>
            <a:ext cx="6275070" cy="8229600"/>
          </a:xfrm>
          <a:custGeom>
            <a:avLst/>
            <a:gdLst/>
            <a:ahLst/>
            <a:cxnLst/>
            <a:rect l="l" t="t" r="r" b="b"/>
            <a:pathLst>
              <a:path w="6275070" h="8229600">
                <a:moveTo>
                  <a:pt x="0" y="0"/>
                </a:moveTo>
                <a:lnTo>
                  <a:pt x="6275070" y="0"/>
                </a:lnTo>
                <a:lnTo>
                  <a:pt x="62750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2" name="Freeform 32"/>
          <p:cNvSpPr/>
          <p:nvPr/>
        </p:nvSpPr>
        <p:spPr>
          <a:xfrm rot="-8648172">
            <a:off x="13278231" y="-3539694"/>
            <a:ext cx="7962138" cy="8229600"/>
          </a:xfrm>
          <a:custGeom>
            <a:avLst/>
            <a:gdLst/>
            <a:ahLst/>
            <a:cxnLst/>
            <a:rect l="l" t="t" r="r" b="b"/>
            <a:pathLst>
              <a:path w="7962138" h="8229600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3" name="AutoShape 33"/>
          <p:cNvSpPr/>
          <p:nvPr/>
        </p:nvSpPr>
        <p:spPr>
          <a:xfrm>
            <a:off x="-1003049" y="9292543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AutoShape 34"/>
          <p:cNvSpPr/>
          <p:nvPr/>
        </p:nvSpPr>
        <p:spPr>
          <a:xfrm>
            <a:off x="-780312" y="994457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-14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1001B">
                <a:alpha val="74902"/>
              </a:srgbClr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9107142">
            <a:off x="-2440411" y="4393050"/>
            <a:ext cx="6275070" cy="8229600"/>
          </a:xfrm>
          <a:custGeom>
            <a:avLst/>
            <a:gdLst/>
            <a:ahLst/>
            <a:cxnLst/>
            <a:rect l="l" t="t" r="r" b="b"/>
            <a:pathLst>
              <a:path w="6275070" h="8229600">
                <a:moveTo>
                  <a:pt x="0" y="0"/>
                </a:moveTo>
                <a:lnTo>
                  <a:pt x="6275070" y="0"/>
                </a:lnTo>
                <a:lnTo>
                  <a:pt x="62750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7" name="Group 7"/>
          <p:cNvGrpSpPr/>
          <p:nvPr/>
        </p:nvGrpSpPr>
        <p:grpSpPr>
          <a:xfrm>
            <a:off x="1935398" y="4466685"/>
            <a:ext cx="572310" cy="514007"/>
            <a:chOff x="0" y="0"/>
            <a:chExt cx="214078" cy="1922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73661" y="4466685"/>
            <a:ext cx="572310" cy="514007"/>
            <a:chOff x="0" y="0"/>
            <a:chExt cx="214078" cy="1922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35398" y="6572597"/>
            <a:ext cx="572310" cy="514007"/>
            <a:chOff x="0" y="0"/>
            <a:chExt cx="214078" cy="1922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73661" y="6572597"/>
            <a:ext cx="572310" cy="514007"/>
            <a:chOff x="0" y="0"/>
            <a:chExt cx="214078" cy="1922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-8648172">
            <a:off x="13278231" y="-3539694"/>
            <a:ext cx="7962138" cy="8229600"/>
          </a:xfrm>
          <a:custGeom>
            <a:avLst/>
            <a:gdLst/>
            <a:ahLst/>
            <a:cxnLst/>
            <a:rect l="l" t="t" r="r" b="b"/>
            <a:pathLst>
              <a:path w="7962138" h="8229600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0" name="AutoShape 20"/>
          <p:cNvSpPr/>
          <p:nvPr/>
        </p:nvSpPr>
        <p:spPr>
          <a:xfrm>
            <a:off x="-1003049" y="9292543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AutoShape 21"/>
          <p:cNvSpPr/>
          <p:nvPr/>
        </p:nvSpPr>
        <p:spPr>
          <a:xfrm>
            <a:off x="-780312" y="994457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1731133" y="2131444"/>
            <a:ext cx="5057711" cy="10007551"/>
            <a:chOff x="0" y="0"/>
            <a:chExt cx="2620010" cy="5184140"/>
          </a:xfrm>
        </p:grpSpPr>
        <p:sp>
          <p:nvSpPr>
            <p:cNvPr id="23" name="Freeform 2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113549" r="-113549"/>
              </a:stretch>
            </a:blipFill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935398" y="2045719"/>
            <a:ext cx="5782764" cy="145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4169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Personalized Product Recommendations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96322" y="4519086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34585" y="4519086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96322" y="6624998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34585" y="6624998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767335" y="4551286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Collaborative Filtering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305598" y="4551286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Content-Based Filtering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767335" y="6657198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Hybrid Approaches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05598" y="6657198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Continuous Learning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67335" y="5071941"/>
            <a:ext cx="2780942" cy="977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 algorithms analyze customer purchase histories and browsing patterns to identify similar products and make personalized recommendations.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305598" y="5071941"/>
            <a:ext cx="2780942" cy="977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 systems examine product attributes, such as descriptions and reviews, to suggest items that closely match a customer's preferences.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767335" y="7177853"/>
            <a:ext cx="3020813" cy="977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Combining collaborative and content-based filtering techniques, AI models provide more accurate and comprehensive product recommendations.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305598" y="7177853"/>
            <a:ext cx="3020813" cy="977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AI-powered recommendation engines continuously adapt to customer behavior, refining their suggestions to deliver an increasingly personalized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-14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1001B">
                <a:alpha val="74902"/>
              </a:srgbClr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97359" y="3739119"/>
            <a:ext cx="3348604" cy="4430885"/>
            <a:chOff x="0" y="0"/>
            <a:chExt cx="881937" cy="11669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69558" y="3739119"/>
            <a:ext cx="3348604" cy="4430885"/>
            <a:chOff x="0" y="0"/>
            <a:chExt cx="881937" cy="11669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42037" y="3739119"/>
            <a:ext cx="3348604" cy="4430885"/>
            <a:chOff x="0" y="0"/>
            <a:chExt cx="881937" cy="11669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51627" y="4116066"/>
            <a:ext cx="2840069" cy="977232"/>
            <a:chOff x="0" y="0"/>
            <a:chExt cx="748002" cy="2573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723826" y="4116066"/>
            <a:ext cx="2840069" cy="977232"/>
            <a:chOff x="0" y="0"/>
            <a:chExt cx="748002" cy="25737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596304" y="4116066"/>
            <a:ext cx="2840069" cy="977232"/>
            <a:chOff x="0" y="0"/>
            <a:chExt cx="748002" cy="2573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486733" y="1905414"/>
            <a:ext cx="11314534" cy="1482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sz="4251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Predictive Analytics for Inventory Management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66697" y="5467538"/>
            <a:ext cx="2009929" cy="122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 algorithms analyze historical sales data, customer behavior, and market trends to predict future demand for products.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38895" y="5467538"/>
            <a:ext cx="2009929" cy="122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AI-powered systems can automatically place orders with suppliers based on predicted demand, ensuring optimal inventory levels.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11374" y="5467538"/>
            <a:ext cx="2009929" cy="122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 models adjust product prices in real-time to balance supply, demand, and profit margins, maximizing revenue.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31065" y="4328781"/>
            <a:ext cx="1881193" cy="52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Demand Forecasting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05814" y="4328781"/>
            <a:ext cx="1876092" cy="52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Automated Ordering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77839" y="4328781"/>
            <a:ext cx="1276999" cy="52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Dynamic Pricing</a:t>
            </a:r>
          </a:p>
        </p:txBody>
      </p:sp>
      <p:sp>
        <p:nvSpPr>
          <p:cNvPr id="31" name="Freeform 31"/>
          <p:cNvSpPr/>
          <p:nvPr/>
        </p:nvSpPr>
        <p:spPr>
          <a:xfrm rot="-9107142">
            <a:off x="-2440411" y="4393050"/>
            <a:ext cx="6275070" cy="8229600"/>
          </a:xfrm>
          <a:custGeom>
            <a:avLst/>
            <a:gdLst/>
            <a:ahLst/>
            <a:cxnLst/>
            <a:rect l="l" t="t" r="r" b="b"/>
            <a:pathLst>
              <a:path w="6275070" h="8229600">
                <a:moveTo>
                  <a:pt x="0" y="0"/>
                </a:moveTo>
                <a:lnTo>
                  <a:pt x="6275070" y="0"/>
                </a:lnTo>
                <a:lnTo>
                  <a:pt x="62750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2" name="Freeform 32"/>
          <p:cNvSpPr/>
          <p:nvPr/>
        </p:nvSpPr>
        <p:spPr>
          <a:xfrm rot="-8648172">
            <a:off x="13278231" y="-3539694"/>
            <a:ext cx="7962138" cy="8229600"/>
          </a:xfrm>
          <a:custGeom>
            <a:avLst/>
            <a:gdLst/>
            <a:ahLst/>
            <a:cxnLst/>
            <a:rect l="l" t="t" r="r" b="b"/>
            <a:pathLst>
              <a:path w="7962138" h="8229600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3" name="AutoShape 33"/>
          <p:cNvSpPr/>
          <p:nvPr/>
        </p:nvSpPr>
        <p:spPr>
          <a:xfrm>
            <a:off x="-1003049" y="9292543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AutoShape 34"/>
          <p:cNvSpPr/>
          <p:nvPr/>
        </p:nvSpPr>
        <p:spPr>
          <a:xfrm>
            <a:off x="-780312" y="994457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-14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1001B">
                <a:alpha val="74902"/>
              </a:srgbClr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9107142">
            <a:off x="-2440411" y="4393050"/>
            <a:ext cx="6275070" cy="8229600"/>
          </a:xfrm>
          <a:custGeom>
            <a:avLst/>
            <a:gdLst/>
            <a:ahLst/>
            <a:cxnLst/>
            <a:rect l="l" t="t" r="r" b="b"/>
            <a:pathLst>
              <a:path w="6275070" h="8229600">
                <a:moveTo>
                  <a:pt x="0" y="0"/>
                </a:moveTo>
                <a:lnTo>
                  <a:pt x="6275070" y="0"/>
                </a:lnTo>
                <a:lnTo>
                  <a:pt x="62750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7" name="Group 7"/>
          <p:cNvGrpSpPr/>
          <p:nvPr/>
        </p:nvGrpSpPr>
        <p:grpSpPr>
          <a:xfrm>
            <a:off x="1935398" y="4466685"/>
            <a:ext cx="572310" cy="514007"/>
            <a:chOff x="0" y="0"/>
            <a:chExt cx="214078" cy="1922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73661" y="4466685"/>
            <a:ext cx="572310" cy="514007"/>
            <a:chOff x="0" y="0"/>
            <a:chExt cx="214078" cy="1922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35398" y="6572597"/>
            <a:ext cx="572310" cy="514007"/>
            <a:chOff x="0" y="0"/>
            <a:chExt cx="214078" cy="1922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73661" y="6572597"/>
            <a:ext cx="572310" cy="514007"/>
            <a:chOff x="0" y="0"/>
            <a:chExt cx="214078" cy="1922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-8648172">
            <a:off x="13278231" y="-3539694"/>
            <a:ext cx="7962138" cy="8229600"/>
          </a:xfrm>
          <a:custGeom>
            <a:avLst/>
            <a:gdLst/>
            <a:ahLst/>
            <a:cxnLst/>
            <a:rect l="l" t="t" r="r" b="b"/>
            <a:pathLst>
              <a:path w="7962138" h="8229600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0" name="AutoShape 20"/>
          <p:cNvSpPr/>
          <p:nvPr/>
        </p:nvSpPr>
        <p:spPr>
          <a:xfrm>
            <a:off x="-1003049" y="9292543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AutoShape 21"/>
          <p:cNvSpPr/>
          <p:nvPr/>
        </p:nvSpPr>
        <p:spPr>
          <a:xfrm>
            <a:off x="-780312" y="994457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1731133" y="2131444"/>
            <a:ext cx="5057711" cy="10007551"/>
            <a:chOff x="0" y="0"/>
            <a:chExt cx="2620010" cy="5184140"/>
          </a:xfrm>
        </p:grpSpPr>
        <p:sp>
          <p:nvSpPr>
            <p:cNvPr id="23" name="Freeform 2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47408" r="-176633"/>
              </a:stretch>
            </a:blipFill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935398" y="2045719"/>
            <a:ext cx="6880607" cy="145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4169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Chatbots for Enhanced Customer Service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96322" y="4519086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34585" y="4519086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96322" y="6624998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34585" y="6624998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767335" y="4551286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24/7 Availability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305598" y="4551286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Natural Language Processing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767335" y="6657198"/>
            <a:ext cx="325918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Automated Workflow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05598" y="6657198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Personalized Interactions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67335" y="5071941"/>
            <a:ext cx="2780942" cy="72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Chatbots provide instant, around- the-clock assistance, addressing customer inquiries and concerns efficiently.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305598" y="5071941"/>
            <a:ext cx="2780942" cy="97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AI-powered chatbots understand and respond to natural language, creating a more conversational and intuitive experience.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767335" y="7177853"/>
            <a:ext cx="3020813" cy="72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Chatbots can automate repetitive tasks, such as order tracking and returns, freeing up human agents for more complex issues.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305598" y="7177853"/>
            <a:ext cx="3020813" cy="72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By leveraging customer data, chatbots can provide tailored responses, enhancing overall customer satisfaction.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-14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1001B">
                <a:alpha val="74902"/>
              </a:srgbClr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97359" y="3739119"/>
            <a:ext cx="3348604" cy="4430885"/>
            <a:chOff x="0" y="0"/>
            <a:chExt cx="881937" cy="11669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69558" y="3739119"/>
            <a:ext cx="3348604" cy="4430885"/>
            <a:chOff x="0" y="0"/>
            <a:chExt cx="881937" cy="11669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42037" y="3739119"/>
            <a:ext cx="3348604" cy="4430885"/>
            <a:chOff x="0" y="0"/>
            <a:chExt cx="881937" cy="11669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51627" y="4116066"/>
            <a:ext cx="2840069" cy="977232"/>
            <a:chOff x="0" y="0"/>
            <a:chExt cx="748002" cy="2573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723826" y="4116066"/>
            <a:ext cx="2840069" cy="977232"/>
            <a:chOff x="0" y="0"/>
            <a:chExt cx="748002" cy="25737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596304" y="4116066"/>
            <a:ext cx="2840069" cy="977232"/>
            <a:chOff x="0" y="0"/>
            <a:chExt cx="748002" cy="2573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666462" y="1905414"/>
            <a:ext cx="6955077" cy="1482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sz="4251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Computer Vision for Visual Search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66697" y="5467538"/>
            <a:ext cx="2009929" cy="122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AI-powered computer vision models can identify products from uploaded images, enabling visual search capabilities.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38895" y="5467538"/>
            <a:ext cx="2009929" cy="1472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Visual search algorithms can suggest similar or complementary products based on the recognized items, enhancing the shopping experience.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11374" y="5467538"/>
            <a:ext cx="2009929" cy="1472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Computer vision can be used to automatically categorize and organize product images, streamlining inventory management.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36579" y="4328781"/>
            <a:ext cx="2270165" cy="256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Image Recognition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05814" y="4328781"/>
            <a:ext cx="1876092" cy="52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Product Recommendations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189661" y="4328781"/>
            <a:ext cx="1653355" cy="52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Inventory Cataloging</a:t>
            </a:r>
          </a:p>
        </p:txBody>
      </p:sp>
      <p:sp>
        <p:nvSpPr>
          <p:cNvPr id="31" name="Freeform 31"/>
          <p:cNvSpPr/>
          <p:nvPr/>
        </p:nvSpPr>
        <p:spPr>
          <a:xfrm rot="-9107142">
            <a:off x="-2440411" y="4393050"/>
            <a:ext cx="6275070" cy="8229600"/>
          </a:xfrm>
          <a:custGeom>
            <a:avLst/>
            <a:gdLst/>
            <a:ahLst/>
            <a:cxnLst/>
            <a:rect l="l" t="t" r="r" b="b"/>
            <a:pathLst>
              <a:path w="6275070" h="8229600">
                <a:moveTo>
                  <a:pt x="0" y="0"/>
                </a:moveTo>
                <a:lnTo>
                  <a:pt x="6275070" y="0"/>
                </a:lnTo>
                <a:lnTo>
                  <a:pt x="62750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2" name="Freeform 32"/>
          <p:cNvSpPr/>
          <p:nvPr/>
        </p:nvSpPr>
        <p:spPr>
          <a:xfrm rot="-8648172">
            <a:off x="13278231" y="-3539694"/>
            <a:ext cx="7962138" cy="8229600"/>
          </a:xfrm>
          <a:custGeom>
            <a:avLst/>
            <a:gdLst/>
            <a:ahLst/>
            <a:cxnLst/>
            <a:rect l="l" t="t" r="r" b="b"/>
            <a:pathLst>
              <a:path w="7962138" h="8229600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3" name="AutoShape 33"/>
          <p:cNvSpPr/>
          <p:nvPr/>
        </p:nvSpPr>
        <p:spPr>
          <a:xfrm>
            <a:off x="-1003049" y="9292543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AutoShape 34"/>
          <p:cNvSpPr/>
          <p:nvPr/>
        </p:nvSpPr>
        <p:spPr>
          <a:xfrm>
            <a:off x="-780312" y="994457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-14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1001B">
                <a:alpha val="74902"/>
              </a:srgbClr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9107142">
            <a:off x="-2440411" y="4393050"/>
            <a:ext cx="6275070" cy="8229600"/>
          </a:xfrm>
          <a:custGeom>
            <a:avLst/>
            <a:gdLst/>
            <a:ahLst/>
            <a:cxnLst/>
            <a:rect l="l" t="t" r="r" b="b"/>
            <a:pathLst>
              <a:path w="6275070" h="8229600">
                <a:moveTo>
                  <a:pt x="0" y="0"/>
                </a:moveTo>
                <a:lnTo>
                  <a:pt x="6275070" y="0"/>
                </a:lnTo>
                <a:lnTo>
                  <a:pt x="62750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7" name="Group 7"/>
          <p:cNvGrpSpPr/>
          <p:nvPr/>
        </p:nvGrpSpPr>
        <p:grpSpPr>
          <a:xfrm>
            <a:off x="1935398" y="4466685"/>
            <a:ext cx="572310" cy="514007"/>
            <a:chOff x="0" y="0"/>
            <a:chExt cx="214078" cy="1922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73661" y="4466685"/>
            <a:ext cx="572310" cy="514007"/>
            <a:chOff x="0" y="0"/>
            <a:chExt cx="214078" cy="1922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35398" y="6572597"/>
            <a:ext cx="572310" cy="514007"/>
            <a:chOff x="0" y="0"/>
            <a:chExt cx="214078" cy="1922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-8648172">
            <a:off x="13278231" y="-3539694"/>
            <a:ext cx="7962138" cy="8229600"/>
          </a:xfrm>
          <a:custGeom>
            <a:avLst/>
            <a:gdLst/>
            <a:ahLst/>
            <a:cxnLst/>
            <a:rect l="l" t="t" r="r" b="b"/>
            <a:pathLst>
              <a:path w="7962138" h="8229600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7" name="AutoShape 17"/>
          <p:cNvSpPr/>
          <p:nvPr/>
        </p:nvSpPr>
        <p:spPr>
          <a:xfrm>
            <a:off x="-1003049" y="9292543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AutoShape 18"/>
          <p:cNvSpPr/>
          <p:nvPr/>
        </p:nvSpPr>
        <p:spPr>
          <a:xfrm>
            <a:off x="-780312" y="994457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1731133" y="2131444"/>
            <a:ext cx="5057711" cy="10007551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142624" r="-142624"/>
              </a:stretch>
            </a:blipFill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935398" y="2045719"/>
            <a:ext cx="6410024" cy="145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4169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Optimizing Pricing and Promotions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96322" y="4519086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34585" y="4519086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96322" y="6624998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767335" y="4551286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Demand Modeling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05598" y="4551286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Competitor Monitoring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767335" y="6657198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Dynamic Pricing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767335" y="5071941"/>
            <a:ext cx="2780942" cy="97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 algorithms analyze historical sales data and customer behavior to predict the impact of price changes on demand.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05598" y="5071941"/>
            <a:ext cx="2780942" cy="97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AI-powered systems track competitors' pricing and promotional strategies, enabling real-time adjustments to stay competitive.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767335" y="7177853"/>
            <a:ext cx="3020813" cy="72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 models automatically adjust prices based on demand, inventory levels, and market conditions to maximize profitability.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-14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1001B">
                <a:alpha val="74902"/>
              </a:srgbClr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97359" y="3739119"/>
            <a:ext cx="3348604" cy="4430885"/>
            <a:chOff x="0" y="0"/>
            <a:chExt cx="881937" cy="11669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69558" y="3739119"/>
            <a:ext cx="3348604" cy="4430885"/>
            <a:chOff x="0" y="0"/>
            <a:chExt cx="881937" cy="11669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42037" y="3739119"/>
            <a:ext cx="3348604" cy="4430885"/>
            <a:chOff x="0" y="0"/>
            <a:chExt cx="881937" cy="11669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51627" y="4116066"/>
            <a:ext cx="2840069" cy="977232"/>
            <a:chOff x="0" y="0"/>
            <a:chExt cx="748002" cy="2573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723826" y="4116066"/>
            <a:ext cx="2840069" cy="977232"/>
            <a:chOff x="0" y="0"/>
            <a:chExt cx="748002" cy="25737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596304" y="4116066"/>
            <a:ext cx="2840069" cy="977232"/>
            <a:chOff x="0" y="0"/>
            <a:chExt cx="748002" cy="2573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666462" y="1905414"/>
            <a:ext cx="6955077" cy="1482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sz="4251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Automating Warehouse Operations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66697" y="5467538"/>
            <a:ext cx="2009929" cy="1472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AI-powered sensors and computer vision monitor inventory levels and locations, enabling efficient stock management and order fulfillment.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38895" y="5467538"/>
            <a:ext cx="2009929" cy="122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Autonomous robots and drones use AI to handle tasks like picking, packing, and shipping, improving speed and accuracy.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11374" y="5467538"/>
            <a:ext cx="2009929" cy="1472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 algorithms analyze equipment performance data to predict and prevent breakdowns, reducing downtime and maintenance costs.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36579" y="4328781"/>
            <a:ext cx="2270165" cy="256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Inventory Tracking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05814" y="4328781"/>
            <a:ext cx="1876092" cy="256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Robotic Automation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189661" y="4328781"/>
            <a:ext cx="1653355" cy="52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Predictive Maintenance</a:t>
            </a:r>
          </a:p>
        </p:txBody>
      </p:sp>
      <p:sp>
        <p:nvSpPr>
          <p:cNvPr id="31" name="Freeform 31"/>
          <p:cNvSpPr/>
          <p:nvPr/>
        </p:nvSpPr>
        <p:spPr>
          <a:xfrm rot="-9107142">
            <a:off x="-2440411" y="4393050"/>
            <a:ext cx="6275070" cy="8229600"/>
          </a:xfrm>
          <a:custGeom>
            <a:avLst/>
            <a:gdLst/>
            <a:ahLst/>
            <a:cxnLst/>
            <a:rect l="l" t="t" r="r" b="b"/>
            <a:pathLst>
              <a:path w="6275070" h="8229600">
                <a:moveTo>
                  <a:pt x="0" y="0"/>
                </a:moveTo>
                <a:lnTo>
                  <a:pt x="6275070" y="0"/>
                </a:lnTo>
                <a:lnTo>
                  <a:pt x="62750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2" name="Freeform 32"/>
          <p:cNvSpPr/>
          <p:nvPr/>
        </p:nvSpPr>
        <p:spPr>
          <a:xfrm rot="-8648172">
            <a:off x="13278231" y="-3539694"/>
            <a:ext cx="7962138" cy="8229600"/>
          </a:xfrm>
          <a:custGeom>
            <a:avLst/>
            <a:gdLst/>
            <a:ahLst/>
            <a:cxnLst/>
            <a:rect l="l" t="t" r="r" b="b"/>
            <a:pathLst>
              <a:path w="7962138" h="8229600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3" name="AutoShape 33"/>
          <p:cNvSpPr/>
          <p:nvPr/>
        </p:nvSpPr>
        <p:spPr>
          <a:xfrm>
            <a:off x="-1003049" y="9292543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AutoShape 34"/>
          <p:cNvSpPr/>
          <p:nvPr/>
        </p:nvSpPr>
        <p:spPr>
          <a:xfrm>
            <a:off x="-780312" y="994457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-14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1001B">
                <a:alpha val="74902"/>
              </a:srgbClr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9107142">
            <a:off x="-2440411" y="4393050"/>
            <a:ext cx="6275070" cy="8229600"/>
          </a:xfrm>
          <a:custGeom>
            <a:avLst/>
            <a:gdLst/>
            <a:ahLst/>
            <a:cxnLst/>
            <a:rect l="l" t="t" r="r" b="b"/>
            <a:pathLst>
              <a:path w="6275070" h="8229600">
                <a:moveTo>
                  <a:pt x="0" y="0"/>
                </a:moveTo>
                <a:lnTo>
                  <a:pt x="6275070" y="0"/>
                </a:lnTo>
                <a:lnTo>
                  <a:pt x="62750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7" name="Group 7"/>
          <p:cNvGrpSpPr/>
          <p:nvPr/>
        </p:nvGrpSpPr>
        <p:grpSpPr>
          <a:xfrm>
            <a:off x="1935398" y="4466685"/>
            <a:ext cx="572310" cy="514007"/>
            <a:chOff x="0" y="0"/>
            <a:chExt cx="214078" cy="1922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73661" y="4466685"/>
            <a:ext cx="572310" cy="514007"/>
            <a:chOff x="0" y="0"/>
            <a:chExt cx="214078" cy="1922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35398" y="6572597"/>
            <a:ext cx="572310" cy="514007"/>
            <a:chOff x="0" y="0"/>
            <a:chExt cx="214078" cy="1922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73661" y="6572597"/>
            <a:ext cx="572310" cy="514007"/>
            <a:chOff x="0" y="0"/>
            <a:chExt cx="214078" cy="1922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4078" cy="192269"/>
            </a:xfrm>
            <a:custGeom>
              <a:avLst/>
              <a:gdLst/>
              <a:ahLst/>
              <a:cxnLst/>
              <a:rect l="l" t="t" r="r" b="b"/>
              <a:pathLst>
                <a:path w="214078" h="192269">
                  <a:moveTo>
                    <a:pt x="94692" y="0"/>
                  </a:moveTo>
                  <a:lnTo>
                    <a:pt x="119386" y="0"/>
                  </a:lnTo>
                  <a:cubicBezTo>
                    <a:pt x="144500" y="0"/>
                    <a:pt x="168585" y="9977"/>
                    <a:pt x="186343" y="27735"/>
                  </a:cubicBezTo>
                  <a:cubicBezTo>
                    <a:pt x="204102" y="45493"/>
                    <a:pt x="214078" y="69578"/>
                    <a:pt x="214078" y="94692"/>
                  </a:cubicBezTo>
                  <a:lnTo>
                    <a:pt x="214078" y="97577"/>
                  </a:lnTo>
                  <a:cubicBezTo>
                    <a:pt x="214078" y="149874"/>
                    <a:pt x="171683" y="192269"/>
                    <a:pt x="119386" y="192269"/>
                  </a:cubicBezTo>
                  <a:lnTo>
                    <a:pt x="94692" y="192269"/>
                  </a:lnTo>
                  <a:cubicBezTo>
                    <a:pt x="42395" y="192269"/>
                    <a:pt x="0" y="149874"/>
                    <a:pt x="0" y="97577"/>
                  </a:cubicBezTo>
                  <a:lnTo>
                    <a:pt x="0" y="94692"/>
                  </a:lnTo>
                  <a:cubicBezTo>
                    <a:pt x="0" y="69578"/>
                    <a:pt x="9977" y="45493"/>
                    <a:pt x="27735" y="27735"/>
                  </a:cubicBezTo>
                  <a:cubicBezTo>
                    <a:pt x="45493" y="9977"/>
                    <a:pt x="69578" y="0"/>
                    <a:pt x="94692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14078" cy="23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-8648172">
            <a:off x="13278231" y="-3539694"/>
            <a:ext cx="7962138" cy="8229600"/>
          </a:xfrm>
          <a:custGeom>
            <a:avLst/>
            <a:gdLst/>
            <a:ahLst/>
            <a:cxnLst/>
            <a:rect l="l" t="t" r="r" b="b"/>
            <a:pathLst>
              <a:path w="7962138" h="8229600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0" name="AutoShape 20"/>
          <p:cNvSpPr/>
          <p:nvPr/>
        </p:nvSpPr>
        <p:spPr>
          <a:xfrm>
            <a:off x="-1003049" y="9292543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AutoShape 21"/>
          <p:cNvSpPr/>
          <p:nvPr/>
        </p:nvSpPr>
        <p:spPr>
          <a:xfrm>
            <a:off x="-780312" y="994457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1731133" y="2131444"/>
            <a:ext cx="5057711" cy="10007551"/>
            <a:chOff x="0" y="0"/>
            <a:chExt cx="2620010" cy="5184140"/>
          </a:xfrm>
        </p:grpSpPr>
        <p:sp>
          <p:nvSpPr>
            <p:cNvPr id="23" name="Freeform 2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22324" r="-22324"/>
              </a:stretch>
            </a:blipFill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935398" y="2045719"/>
            <a:ext cx="5782764" cy="145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4169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Enhancing the Online Shopping Experience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96322" y="4519086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34585" y="4519086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96322" y="6624998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34585" y="6624998"/>
            <a:ext cx="450462" cy="37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3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767335" y="4551286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Virtual Try-On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305598" y="4551286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Intelligent Search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767335" y="6657198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Personalized Recommendations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05598" y="6657198"/>
            <a:ext cx="36825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Omnichannel Integration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67335" y="5071941"/>
            <a:ext cx="3020813" cy="97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AI-powered augmented reality (AR) technologies allow customers to virtually try on products, such as clothing or accessories, before purchasing.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305598" y="5071941"/>
            <a:ext cx="2780942" cy="97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Natural language processing and machine learning enable customers to find relevant products using intuitive voice or text searches.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767335" y="7177853"/>
            <a:ext cx="3020813" cy="72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 algorithms analyze customer data to provide tailored product suggestions, increasing engagement and boosting sales.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305598" y="7177853"/>
            <a:ext cx="3020813" cy="72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09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AI-driven systems integrate online and offline shopping experiences, ensuring a seamless and consistent customer journey.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-14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1001B">
                <a:alpha val="74902"/>
              </a:srgbClr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97359" y="3739119"/>
            <a:ext cx="3348604" cy="4430885"/>
            <a:chOff x="0" y="0"/>
            <a:chExt cx="881937" cy="11669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69558" y="3739119"/>
            <a:ext cx="3348604" cy="4430885"/>
            <a:chOff x="0" y="0"/>
            <a:chExt cx="881937" cy="11669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42037" y="3739119"/>
            <a:ext cx="3348604" cy="4430885"/>
            <a:chOff x="0" y="0"/>
            <a:chExt cx="881937" cy="11669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1937" cy="1166982"/>
            </a:xfrm>
            <a:custGeom>
              <a:avLst/>
              <a:gdLst/>
              <a:ahLst/>
              <a:cxnLst/>
              <a:rect l="l" t="t" r="r" b="b"/>
              <a:pathLst>
                <a:path w="881937" h="1166982">
                  <a:moveTo>
                    <a:pt x="50864" y="0"/>
                  </a:moveTo>
                  <a:lnTo>
                    <a:pt x="831073" y="0"/>
                  </a:lnTo>
                  <a:cubicBezTo>
                    <a:pt x="844563" y="0"/>
                    <a:pt x="857500" y="5359"/>
                    <a:pt x="867039" y="14898"/>
                  </a:cubicBezTo>
                  <a:cubicBezTo>
                    <a:pt x="876578" y="24436"/>
                    <a:pt x="881937" y="37374"/>
                    <a:pt x="881937" y="50864"/>
                  </a:cubicBezTo>
                  <a:lnTo>
                    <a:pt x="881937" y="1116119"/>
                  </a:lnTo>
                  <a:cubicBezTo>
                    <a:pt x="881937" y="1144210"/>
                    <a:pt x="859164" y="1166982"/>
                    <a:pt x="831073" y="1166982"/>
                  </a:cubicBezTo>
                  <a:lnTo>
                    <a:pt x="50864" y="1166982"/>
                  </a:lnTo>
                  <a:cubicBezTo>
                    <a:pt x="22772" y="1166982"/>
                    <a:pt x="0" y="1144210"/>
                    <a:pt x="0" y="1116119"/>
                  </a:cubicBezTo>
                  <a:lnTo>
                    <a:pt x="0" y="50864"/>
                  </a:lnTo>
                  <a:cubicBezTo>
                    <a:pt x="0" y="22772"/>
                    <a:pt x="22772" y="0"/>
                    <a:pt x="50864" y="0"/>
                  </a:cubicBezTo>
                  <a:close/>
                </a:path>
              </a:pathLst>
            </a:custGeom>
            <a:solidFill>
              <a:srgbClr val="7448A2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81937" cy="1214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51627" y="4116066"/>
            <a:ext cx="2840069" cy="977232"/>
            <a:chOff x="0" y="0"/>
            <a:chExt cx="748002" cy="2573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723826" y="4116066"/>
            <a:ext cx="2840069" cy="977232"/>
            <a:chOff x="0" y="0"/>
            <a:chExt cx="748002" cy="25737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596304" y="4116066"/>
            <a:ext cx="2840069" cy="977232"/>
            <a:chOff x="0" y="0"/>
            <a:chExt cx="748002" cy="2573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8002" cy="257378"/>
            </a:xfrm>
            <a:custGeom>
              <a:avLst/>
              <a:gdLst/>
              <a:ahLst/>
              <a:cxnLst/>
              <a:rect l="l" t="t" r="r" b="b"/>
              <a:pathLst>
                <a:path w="748002" h="257378">
                  <a:moveTo>
                    <a:pt x="59971" y="0"/>
                  </a:moveTo>
                  <a:lnTo>
                    <a:pt x="688030" y="0"/>
                  </a:lnTo>
                  <a:cubicBezTo>
                    <a:pt x="721152" y="0"/>
                    <a:pt x="748002" y="26850"/>
                    <a:pt x="748002" y="59971"/>
                  </a:cubicBezTo>
                  <a:lnTo>
                    <a:pt x="748002" y="197407"/>
                  </a:lnTo>
                  <a:cubicBezTo>
                    <a:pt x="748002" y="213312"/>
                    <a:pt x="741683" y="228566"/>
                    <a:pt x="730436" y="239813"/>
                  </a:cubicBezTo>
                  <a:cubicBezTo>
                    <a:pt x="719190" y="251060"/>
                    <a:pt x="703936" y="257378"/>
                    <a:pt x="688030" y="257378"/>
                  </a:cubicBezTo>
                  <a:lnTo>
                    <a:pt x="59971" y="257378"/>
                  </a:lnTo>
                  <a:cubicBezTo>
                    <a:pt x="26850" y="257378"/>
                    <a:pt x="0" y="230528"/>
                    <a:pt x="0" y="197407"/>
                  </a:cubicBezTo>
                  <a:lnTo>
                    <a:pt x="0" y="59971"/>
                  </a:lnTo>
                  <a:cubicBezTo>
                    <a:pt x="0" y="44066"/>
                    <a:pt x="6318" y="28812"/>
                    <a:pt x="17565" y="17565"/>
                  </a:cubicBezTo>
                  <a:cubicBezTo>
                    <a:pt x="28812" y="6318"/>
                    <a:pt x="44066" y="0"/>
                    <a:pt x="5997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748002" cy="305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266697" y="1905414"/>
            <a:ext cx="9754606" cy="73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sz="4251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The Future of AI in E- Commerce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66697" y="5467538"/>
            <a:ext cx="2009929" cy="1472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 will enable even more tailored experiences, with predictive insights and adaptive interfaces that anticipate individual customer needs.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38895" y="5467538"/>
            <a:ext cx="2009929" cy="1472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Robotic warehouses and self-driving delivery vehicles will streamline the order fulfillment process, reducing costs and improving efficiency.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11374" y="5467538"/>
            <a:ext cx="2009929" cy="1472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096">
                <a:solidFill>
                  <a:srgbClr val="F7F3F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Advanced natural language processing and AI-powered virtual assistants will facilitate more natural, conversational shopping interactions.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66697" y="4328781"/>
            <a:ext cx="2009929" cy="52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Hyper-Personalization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05814" y="4328781"/>
            <a:ext cx="1876092" cy="52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Autonomous Fulfillment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189661" y="4328781"/>
            <a:ext cx="1653355" cy="52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b="1">
                <a:solidFill>
                  <a:srgbClr val="7448A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Conversational Commerce</a:t>
            </a:r>
          </a:p>
        </p:txBody>
      </p:sp>
      <p:sp>
        <p:nvSpPr>
          <p:cNvPr id="31" name="Freeform 31"/>
          <p:cNvSpPr/>
          <p:nvPr/>
        </p:nvSpPr>
        <p:spPr>
          <a:xfrm rot="-9107142">
            <a:off x="-2440411" y="4393050"/>
            <a:ext cx="6275070" cy="8229600"/>
          </a:xfrm>
          <a:custGeom>
            <a:avLst/>
            <a:gdLst/>
            <a:ahLst/>
            <a:cxnLst/>
            <a:rect l="l" t="t" r="r" b="b"/>
            <a:pathLst>
              <a:path w="6275070" h="8229600">
                <a:moveTo>
                  <a:pt x="0" y="0"/>
                </a:moveTo>
                <a:lnTo>
                  <a:pt x="6275070" y="0"/>
                </a:lnTo>
                <a:lnTo>
                  <a:pt x="62750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2" name="Freeform 32"/>
          <p:cNvSpPr/>
          <p:nvPr/>
        </p:nvSpPr>
        <p:spPr>
          <a:xfrm rot="-8648172">
            <a:off x="13278231" y="-3539694"/>
            <a:ext cx="7962138" cy="8229600"/>
          </a:xfrm>
          <a:custGeom>
            <a:avLst/>
            <a:gdLst/>
            <a:ahLst/>
            <a:cxnLst/>
            <a:rect l="l" t="t" r="r" b="b"/>
            <a:pathLst>
              <a:path w="7962138" h="8229600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3" name="AutoShape 33"/>
          <p:cNvSpPr/>
          <p:nvPr/>
        </p:nvSpPr>
        <p:spPr>
          <a:xfrm>
            <a:off x="-1003049" y="9292543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AutoShape 34"/>
          <p:cNvSpPr/>
          <p:nvPr/>
        </p:nvSpPr>
        <p:spPr>
          <a:xfrm>
            <a:off x="-780312" y="994457"/>
            <a:ext cx="1973713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Office PowerPoint</Application>
  <PresentationFormat>Custom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 Medium</vt:lpstr>
      <vt:lpstr>Calibri</vt:lpstr>
      <vt:lpstr>Arial</vt:lpstr>
      <vt:lpstr>Red Hat Display Bold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Dark Grey Lines Gradient Technology Keynote Presentation</dc:title>
  <dc:creator>Deepa Gunasekar</dc:creator>
  <cp:lastModifiedBy>Deepa Gunasekar</cp:lastModifiedBy>
  <cp:revision>1</cp:revision>
  <dcterms:created xsi:type="dcterms:W3CDTF">2006-08-16T00:00:00Z</dcterms:created>
  <dcterms:modified xsi:type="dcterms:W3CDTF">2025-10-03T13:16:33Z</dcterms:modified>
  <dc:identifier>DAG0vaIKhuY</dc:identifier>
</cp:coreProperties>
</file>